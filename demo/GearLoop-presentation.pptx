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94af624-98e5-d011-5a63-c61aab4b3a41}">
          <p14:sldIdLst>
            <p14:sldId id="256"/>
            <p14:sldId id="257"/>
            <p14:sldId id="258"/>
          </p14:sldIdLst>
        </p14:section>
        <p14:section name="Architecture" id="{98b768d9-790b-c092-f372-520ebb0e7d5a}">
          <p14:sldIdLst>
            <p14:sldId id="259"/>
            <p14:sldId id="260"/>
          </p14:sldIdLst>
        </p14:section>
        <p14:section name="Security" id="{93e88b74-e0b1-f32d-8b99-3f6c57174723}">
          <p14:sldIdLst>
            <p14:sldId id="261"/>
          </p14:sldIdLst>
        </p14:section>
        <p14:section name="Platform" id="{2593a6bc-ee7b-15fc-c6cb-709edb33d4e3}">
          <p14:sldIdLst>
            <p14:sldId id="262"/>
            <p14:sldId id="263"/>
            <p14:sldId id="264"/>
          </p14:sldIdLst>
        </p14:section>
        <p14:section name="Wrap-up" id="{9fe620df-f85f-3f90-2a1e-12a12b981a9b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GearLoop is a lending desk for campus equipment; the project is about the DevSecOps platform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99F6E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F172A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GearLoop · DevSecOps capstone · Netram Faran (24BCS10329)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GearLoop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Campus gear lending, shipped the DevSecOps way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Netram Faran · 24BCS10329 · github.com/netram75/devsecops-python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What GearLoop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Students reserve cameras, drones, audio kits, lab kits, laptops and VR headsets; staff check items out, take them back and chase overdue loans.</a:t>
            </a:r>
            <a:endParaRPr lang="en-US" sz="1600" dirty="0"/>
          </a:p>
        </p:txBody>
      </p:sp>
      <p:sp>
        <p:nvSpPr>
          <p:cNvPr id="4" name="card No double lending"/>
          <p:cNvSpPr/>
          <p:nvPr/>
        </p:nvSpPr>
        <p:spPr>
          <a:xfrm>
            <a:off x="548640" y="210312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No double lending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Asset row locked (FOR UPDATE) before the overlap check → 409</a:t>
            </a:r>
            <a:endParaRPr lang="en-US" sz="1600" dirty="0"/>
          </a:p>
        </p:txBody>
      </p:sp>
      <p:sp>
        <p:nvSpPr>
          <p:cNvPr id="6" name="card State machine"/>
          <p:cNvSpPr/>
          <p:nvPr/>
        </p:nvSpPr>
        <p:spPr>
          <a:xfrm>
            <a:off x="3474720" y="210312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2194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State machine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reserved → checked out → returned; illegal moves → 409</a:t>
            </a:r>
            <a:endParaRPr lang="en-US" sz="1600" dirty="0"/>
          </a:p>
        </p:txBody>
      </p:sp>
      <p:sp>
        <p:nvSpPr>
          <p:cNvPr id="8" name="card Fair use"/>
          <p:cNvSpPr/>
          <p:nvPr/>
        </p:nvSpPr>
        <p:spPr>
          <a:xfrm>
            <a:off x="548640" y="361188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Fair use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≤ 3 active loans per student (advisory lock); max days per category</a:t>
            </a:r>
            <a:endParaRPr lang="en-US" sz="1600" dirty="0"/>
          </a:p>
        </p:txBody>
      </p:sp>
      <p:sp>
        <p:nvSpPr>
          <p:cNvPr id="10" name="card Audit + metrics"/>
          <p:cNvSpPr/>
          <p:nvPr/>
        </p:nvSpPr>
        <p:spPr>
          <a:xfrm>
            <a:off x="3474720" y="361188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Audit + metrics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every change in an events table; overdue count is a Prometheus gauge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32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pytest cases, 92% coverage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51206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15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REST operations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5120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3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tables, 2 migrations</a:t>
            </a:r>
            <a:endParaRPr lang="en-US" sz="4400" dirty="0"/>
          </a:p>
        </p:txBody>
      </p:sp>
      <p:pic>
        <p:nvPicPr>
          <p:cNvPr id="15" name="Image 0" descr="/Users/netramfaran/Desktop/Devops_assign/devsecops-python/screenshots/m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188720"/>
            <a:ext cx="5120640" cy="3200400"/>
          </a:xfrm>
          <a:prstGeom prst="rect">
            <a:avLst/>
          </a:prstGeom>
        </p:spPr>
      </p:pic>
      <p:pic>
        <p:nvPicPr>
          <p:cNvPr id="16" name="Image 1" descr="/Users/netramfaran/Desktop/Devops_assign/devsecops-python/screenshots/m1-reservation-conflic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9520" y="4480560"/>
            <a:ext cx="292608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card Application"/>
          <p:cNvSpPr/>
          <p:nvPr/>
        </p:nvSpPr>
        <p:spPr>
          <a:xfrm>
            <a:off x="54864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Application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FastAPI · SQLAlchemy 2 · Alembic · React 19 + Vite · PostgreSQL 17</a:t>
            </a:r>
            <a:endParaRPr lang="en-US" sz="1600" dirty="0"/>
          </a:p>
        </p:txBody>
      </p:sp>
      <p:sp>
        <p:nvSpPr>
          <p:cNvPr id="5" name="card Testing"/>
          <p:cNvSpPr/>
          <p:nvPr/>
        </p:nvSpPr>
        <p:spPr>
          <a:xfrm>
            <a:off x="429768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3484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Testing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pytest + coverage on a throwaway SQLite DB built by the real migrations</a:t>
            </a:r>
            <a:endParaRPr lang="en-US" sz="1600" dirty="0"/>
          </a:p>
        </p:txBody>
      </p:sp>
      <p:sp>
        <p:nvSpPr>
          <p:cNvPr id="7" name="card Containers"/>
          <p:cNvSpPr/>
          <p:nvPr/>
        </p:nvSpPr>
        <p:spPr>
          <a:xfrm>
            <a:off x="804672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Containers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Multi-stage images · non-root (UID 10001 / 101) · docker compose</a:t>
            </a:r>
            <a:endParaRPr lang="en-US" sz="1600" dirty="0"/>
          </a:p>
        </p:txBody>
      </p:sp>
      <p:sp>
        <p:nvSpPr>
          <p:cNvPr id="9" name="card CI/CD"/>
          <p:cNvSpPr/>
          <p:nvPr/>
        </p:nvSpPr>
        <p:spPr>
          <a:xfrm>
            <a:off x="548640" y="2926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17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CI/CD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GitHub Actions (9 jobs) · GHCR · tags = commit SHA</a:t>
            </a:r>
            <a:endParaRPr lang="en-US" sz="1600" dirty="0"/>
          </a:p>
        </p:txBody>
      </p:sp>
      <p:sp>
        <p:nvSpPr>
          <p:cNvPr id="11" name="card Security"/>
          <p:cNvSpPr/>
          <p:nvPr/>
        </p:nvSpPr>
        <p:spPr>
          <a:xfrm>
            <a:off x="4297680" y="2926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3017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Security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Trivy · Gitleaks · Bandit · npm audit · Pod Security restricted</a:t>
            </a:r>
            <a:endParaRPr lang="en-US" sz="1600" dirty="0"/>
          </a:p>
        </p:txBody>
      </p:sp>
      <p:sp>
        <p:nvSpPr>
          <p:cNvPr id="13" name="card Kubernetes"/>
          <p:cNvSpPr/>
          <p:nvPr/>
        </p:nvSpPr>
        <p:spPr>
          <a:xfrm>
            <a:off x="8046720" y="2926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3017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Kubernetes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kind (1 + 2 nodes) · Helm chart · ingress-nginx · HPA · PDB</a:t>
            </a:r>
            <a:endParaRPr lang="en-US" sz="1600" dirty="0"/>
          </a:p>
        </p:txBody>
      </p:sp>
      <p:sp>
        <p:nvSpPr>
          <p:cNvPr id="15" name="card GitOps"/>
          <p:cNvSpPr/>
          <p:nvPr/>
        </p:nvSpPr>
        <p:spPr>
          <a:xfrm>
            <a:off x="548640" y="45720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6634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5309"/>
                </a:solidFill>
              </a:rPr>
              <a:t>GitOps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Argo CD 3.5 · automated sync, prune, self-heal</a:t>
            </a:r>
            <a:endParaRPr lang="en-US" sz="1600" dirty="0"/>
          </a:p>
        </p:txBody>
      </p:sp>
      <p:sp>
        <p:nvSpPr>
          <p:cNvPr id="17" name="card Observability"/>
          <p:cNvSpPr/>
          <p:nvPr/>
        </p:nvSpPr>
        <p:spPr>
          <a:xfrm>
            <a:off x="4297680" y="45720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46634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5309"/>
                </a:solidFill>
              </a:rPr>
              <a:t>Observability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Prometheus · Grafana · Alertmanager · business metrics + alerts</a:t>
            </a:r>
            <a:endParaRPr lang="en-US" sz="1600" dirty="0"/>
          </a:p>
        </p:txBody>
      </p:sp>
      <p:sp>
        <p:nvSpPr>
          <p:cNvPr id="19" name="card Infrastructure"/>
          <p:cNvSpPr/>
          <p:nvPr/>
        </p:nvSpPr>
        <p:spPr>
          <a:xfrm>
            <a:off x="8046720" y="45720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46634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5309"/>
                </a:solidFill>
              </a:rPr>
              <a:t>Infrastructure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Terraform · VPC (2 public + 2 private) · NAT · EKS 1.35 + node group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Architecture</a:t>
            </a:r>
            <a:endParaRPr lang="en-US" sz="3200" dirty="0"/>
          </a:p>
        </p:txBody>
      </p:sp>
      <p:pic>
        <p:nvPicPr>
          <p:cNvPr id="3" name="Image 0" descr="/private/tmp/claude-501/-Users-netramfaran-Desktop-Devops-assign/ed93f69a-c542-4fd0-8d2c-ec308db70cb7/scratchpad/deck/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CI/CD: every push to main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pytest gate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3560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3258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migrations race (3 at once)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3560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13258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frontend build + npm audit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3774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Gitleaks + Bandit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248716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3774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helm lint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248716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23774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build + Trivy ×2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5387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429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push scanned image to GHCR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7680" y="35387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3429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smoke test in kind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46720" y="35387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3429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promote SHA → GitOps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572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3m 26s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first run, all 11 jobs green</a:t>
            </a:r>
            <a:endParaRPr lang="en-US" sz="44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4572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SHA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image tag = full commit SHA, never latest</a:t>
            </a:r>
            <a:endParaRPr lang="en-US" sz="44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572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0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rebuilds after the scan</a:t>
            </a:r>
            <a:endParaRPr lang="en-US" sz="44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45720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1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loop guard: paths-ignore on the promote file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DevSecOps: the gate caught 4 HIGH CVEs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The first backend image failed Trivy: urllib3, msgpack and setuptools CVE-2025-47273 (path traversal in PackageIndex).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None were app dependencies; all four are vendored inside pip.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Fix: multi-stage build; the runtime image ships without pip/setuptools/wheel.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Now 0 HIGH/CRITICAL in both images; Gitleaks: no leaks; Bandit: clean.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</a:rPr>
              <a:t>4 → 0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HIGH findings, backend image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45720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0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HIGH/CRITICAL, frontend image</a:t>
            </a:r>
            <a:endParaRPr lang="en-US" sz="4400" dirty="0"/>
          </a:p>
        </p:txBody>
      </p:sp>
      <p:pic>
        <p:nvPicPr>
          <p:cNvPr id="6" name="Image 0" descr="/Users/netramfaran/Desktop/Devops_assign/devsecops-python/screenshots/m6-trivy-block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188720"/>
            <a:ext cx="585216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Infrastructure as code: VPC + EKS</a:t>
            </a:r>
            <a:endParaRPr lang="en-US" sz="3200" dirty="0"/>
          </a:p>
        </p:txBody>
      </p:sp>
      <p:sp>
        <p:nvSpPr>
          <p:cNvPr id="3" name="card network.tf"/>
          <p:cNvSpPr/>
          <p:nvPr/>
        </p:nvSpPr>
        <p:spPr>
          <a:xfrm>
            <a:off x="548640" y="128016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network.tf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VPC 10.42.0.0/16 · 2 public + 2 private subnets in 2 AZs · IGW · NAT · route tables</a:t>
            </a:r>
            <a:endParaRPr lang="en-US" sz="1600" dirty="0"/>
          </a:p>
        </p:txBody>
      </p:sp>
      <p:sp>
        <p:nvSpPr>
          <p:cNvPr id="5" name="card iam.tf"/>
          <p:cNvSpPr/>
          <p:nvPr/>
        </p:nvSpPr>
        <p:spPr>
          <a:xfrm>
            <a:off x="548640" y="256032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51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iam.tf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cluster role + node role (worker, CNI, ECR read-only)</a:t>
            </a:r>
            <a:endParaRPr lang="en-US" sz="1600" dirty="0"/>
          </a:p>
        </p:txBody>
      </p:sp>
      <p:sp>
        <p:nvSpPr>
          <p:cNvPr id="7" name="card eks.tf"/>
          <p:cNvSpPr/>
          <p:nvPr/>
        </p:nvSpPr>
        <p:spPr>
          <a:xfrm>
            <a:off x="548640" y="36118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7033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D28D9"/>
                </a:solidFill>
              </a:rPr>
              <a:t>eks.tf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EKS 1.35 · managed node group 2 × t3.medium (1–3)</a:t>
            </a:r>
            <a:endParaRPr lang="en-US" sz="1600" dirty="0"/>
          </a:p>
        </p:txBody>
      </p:sp>
      <p:sp>
        <p:nvSpPr>
          <p:cNvPr id="9" name="card Honest note"/>
          <p:cNvSpPr/>
          <p:nvPr/>
        </p:nvSpPr>
        <p:spPr>
          <a:xfrm>
            <a:off x="548640" y="46634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5309"/>
                </a:solidFill>
              </a:rPr>
              <a:t>Honest note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Ran on the moto AWS emulator (no personal AWS account): init, plan (22), apply, destroy all real; no Console screenshots.</a:t>
            </a:r>
            <a:endParaRPr lang="en-US" sz="1600" dirty="0"/>
          </a:p>
        </p:txBody>
      </p:sp>
      <p:pic>
        <p:nvPicPr>
          <p:cNvPr id="11" name="Image 0" descr="/Users/netramfaran/Desktop/Devops_assign/devsecops-python/screenshots/m7-terraform-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566928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Kubernetes, Helm and GitOps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Helm chart: backend 2–6 (HPA), frontend ×2, Postgres StatefulSet, Ingress / → frontend, /api → backend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Every pod non-root, read-only root FS, no capabilities; namespace enforces Pod Security restricted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Argo CD syncs the gearloop namespace from main; CI writes the SHA it tested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Staging installed with helm upgrade --install (shows in helm list)</a:t>
            </a:r>
            <a:endParaRPr lang="en-US" sz="1600" dirty="0"/>
          </a:p>
        </p:txBody>
      </p:sp>
      <p:pic>
        <p:nvPicPr>
          <p:cNvPr id="4" name="Image 0" descr="/Users/netramfaran/Desktop/Devops_assign/devsecops-python/screenshots/m8-argocd-a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5669280" cy="3017520"/>
          </a:xfrm>
          <a:prstGeom prst="rect">
            <a:avLst/>
          </a:prstGeom>
        </p:spPr>
      </p:pic>
      <p:pic>
        <p:nvPicPr>
          <p:cNvPr id="5" name="Image 1" descr="/Users/netramfaran/Desktop/Devops_assign/devsecops-python/screenshots/m8-hpa-scal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4297680"/>
            <a:ext cx="566928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Observability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206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/metrics: HTTP metrics with 5 ms latency buckets + business gauges read from the DB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ServiceMonitor → Prometheus; targets UP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Alerts: backend down, 5xx &gt; 5%, p95 &gt; 500 ms, DB down, ≥ 3 overdue loans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Grafana dashboard ships with the chart</a:t>
            </a:r>
            <a:endParaRPr lang="en-US" sz="1600" dirty="0"/>
          </a:p>
        </p:txBody>
      </p:sp>
      <p:pic>
        <p:nvPicPr>
          <p:cNvPr id="4" name="Image 0" descr="/Users/netramfaran/Desktop/Devops_assign/devsecops-python/screenshots/m9-grafana-prod-hp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188720"/>
            <a:ext cx="667512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2 → 6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backend pods under load, back to 2 after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3749040" y="4846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UP</a:t>
            </a:r>
            <a:endParaRPr lang="en-US" sz="4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app targets in Prometheus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Key learnings</a:t>
            </a:r>
            <a:endParaRPr lang="en-US" sz="3200" dirty="0"/>
          </a:p>
        </p:txBody>
      </p:sp>
      <p:sp>
        <p:nvSpPr>
          <p:cNvPr id="3" name="card Scan what you ship"/>
          <p:cNvSpPr/>
          <p:nvPr/>
        </p:nvSpPr>
        <p:spPr>
          <a:xfrm>
            <a:off x="548640" y="12801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Scan what you ship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Trivy's 4 HIGHs came from pip, not my code. Removing the tool removed the risk.</a:t>
            </a:r>
            <a:endParaRPr lang="en-US" sz="1600" dirty="0"/>
          </a:p>
        </p:txBody>
      </p:sp>
      <p:sp>
        <p:nvSpPr>
          <p:cNvPr id="5" name="card Locks beat checks"/>
          <p:cNvSpPr/>
          <p:nvPr/>
        </p:nvSpPr>
        <p:spPr>
          <a:xfrm>
            <a:off x="6172200" y="12801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0" y="137160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Locks beat checks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Overlap checks race across replicas; row and advisory locks make them safe.</a:t>
            </a:r>
            <a:endParaRPr lang="en-US" sz="1600" dirty="0"/>
          </a:p>
        </p:txBody>
      </p:sp>
      <p:sp>
        <p:nvSpPr>
          <p:cNvPr id="7" name="card Defaults hide data"/>
          <p:cNvSpPr/>
          <p:nvPr/>
        </p:nvSpPr>
        <p:spPr>
          <a:xfrm>
            <a:off x="548640" y="2926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1752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Defaults hide data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100 ms latency buckets made p95 useless; 5 ms buckets fixed it.</a:t>
            </a:r>
            <a:endParaRPr lang="en-US" sz="1600" dirty="0"/>
          </a:p>
        </p:txBody>
      </p:sp>
      <p:sp>
        <p:nvSpPr>
          <p:cNvPr id="9" name="card Networking surprises"/>
          <p:cNvSpPr/>
          <p:nvPr/>
        </p:nvSpPr>
        <p:spPr>
          <a:xfrm>
            <a:off x="6172200" y="2926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301752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Networking surprises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Docker Desktop sent port 80 to the kind node over IPv6; an IPv4-only network fixed it.</a:t>
            </a:r>
            <a:endParaRPr lang="en-US" sz="1600" dirty="0"/>
          </a:p>
        </p:txBody>
      </p:sp>
      <p:sp>
        <p:nvSpPr>
          <p:cNvPr id="11" name="card GitOps needs loop guards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FFCF9"/>
          </a:solidFill>
          <a:ln w="12700">
            <a:solidFill>
              <a:srgbClr val="EFFC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66344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GitOps needs loop guards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The promote commit would retrigger CI without paths-ignore.</a:t>
            </a:r>
            <a:endParaRPr lang="en-US" sz="1600" dirty="0"/>
          </a:p>
        </p:txBody>
      </p:sp>
      <p:sp>
        <p:nvSpPr>
          <p:cNvPr id="13" name="card Operators select narrowly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466344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Operators select narrowly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Prometheus ignored my ServiceMonitor until the selector flags were 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Limitations and next steps</a:t>
            </a:r>
            <a:endParaRPr lang="en-US" sz="3200" dirty="0"/>
          </a:p>
        </p:txBody>
      </p:sp>
      <p:sp>
        <p:nvSpPr>
          <p:cNvPr id="3" name="card Terraform on real AWS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Terraform on real AWS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Run the same code with a personal AWS profile and take Console screenshots.</a:t>
            </a:r>
            <a:endParaRPr lang="en-US" sz="1600" dirty="0"/>
          </a:p>
        </p:txBody>
      </p:sp>
      <p:sp>
        <p:nvSpPr>
          <p:cNvPr id="5" name="card Run the app on EKS"/>
          <p:cNvSpPr/>
          <p:nvPr/>
        </p:nvSpPr>
        <p:spPr>
          <a:xfrm>
            <a:off x="429768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34840" y="14630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Run the app on EKS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Point Argo CD at the EKS cluster instead of kind.</a:t>
            </a:r>
            <a:endParaRPr lang="en-US" sz="1600" dirty="0"/>
          </a:p>
        </p:txBody>
      </p:sp>
      <p:sp>
        <p:nvSpPr>
          <p:cNvPr id="7" name="card Replace ingress-nginx"/>
          <p:cNvSpPr/>
          <p:nvPr/>
        </p:nvSpPr>
        <p:spPr>
          <a:xfrm>
            <a:off x="804672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14630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Replace ingress-nginx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Retired upstream in March 2026; move to Gateway API.</a:t>
            </a:r>
            <a:endParaRPr lang="en-US" sz="1600" dirty="0"/>
          </a:p>
        </p:txBody>
      </p:sp>
      <p:sp>
        <p:nvSpPr>
          <p:cNvPr id="9" name="card Managed Postgres"/>
          <p:cNvSpPr/>
          <p:nvPr/>
        </p:nvSpPr>
        <p:spPr>
          <a:xfrm>
            <a:off x="548640" y="35661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576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Managed Postgres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RDS or CloudNativePG with backups instead of one StatefulSet pod.</a:t>
            </a:r>
            <a:endParaRPr lang="en-US" sz="1600" dirty="0"/>
          </a:p>
        </p:txBody>
      </p:sp>
      <p:sp>
        <p:nvSpPr>
          <p:cNvPr id="11" name="card Sign-in"/>
          <p:cNvSpPr/>
          <p:nvPr/>
        </p:nvSpPr>
        <p:spPr>
          <a:xfrm>
            <a:off x="4297680" y="35661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36576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Sign-in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Campus SSO and an actor column in the audit trail.</a:t>
            </a:r>
            <a:endParaRPr lang="en-US" sz="1600" dirty="0"/>
          </a:p>
        </p:txBody>
      </p:sp>
      <p:sp>
        <p:nvSpPr>
          <p:cNvPr id="13" name="card Alert routing"/>
          <p:cNvSpPr/>
          <p:nvPr/>
        </p:nvSpPr>
        <p:spPr>
          <a:xfrm>
            <a:off x="8046720" y="35661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36576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Alert routing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Send Alertmanager to Slack/email; today alerts only show in Prometheus.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github.com/netram75/devsecops-python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README · demo/GearLoop-demo.mp4 · GHCR: ghcr.io/netram75/gearloop-*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Loop">
  <a:themeElements>
    <a:clrScheme name="GearLoop">
      <a:dk1>
        <a:srgbClr val="0F172A"/>
      </a:dk1>
      <a:lt1>
        <a:srgbClr val="FFFFFF"/>
      </a:lt1>
      <a:dk2>
        <a:srgbClr val="0A1D22"/>
      </a:dk2>
      <a:lt2>
        <a:srgbClr val="F3F5F7"/>
      </a:lt2>
      <a:accent1>
        <a:srgbClr val="0F766E"/>
      </a:accent1>
      <a:accent2>
        <a:srgbClr val="14B8A6"/>
      </a:accent2>
      <a:accent3>
        <a:srgbClr val="F59E0B"/>
      </a:accent3>
      <a:accent4>
        <a:srgbClr val="DC2626"/>
      </a:accent4>
      <a:accent5>
        <a:srgbClr val="2563EB"/>
      </a:accent5>
      <a:accent6>
        <a:srgbClr val="7C3AED"/>
      </a:accent6>
      <a:hlink>
        <a:srgbClr val="0F766E"/>
      </a:hlink>
      <a:folHlink>
        <a:srgbClr val="7C3AED"/>
      </a:folHlink>
    </a:clrScheme>
    <a:fontScheme name="GearLo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GearLoop - DevSecOps capstone</dc:title>
  <dc:subject>PptxGenJS Presentation</dc:subject>
  <dc:creator>Netram Faran</dc:creator>
  <cp:lastModifiedBy>Netram Faran</cp:lastModifiedBy>
  <cp:revision>1</cp:revision>
  <dcterms:created xsi:type="dcterms:W3CDTF">2026-10-16T17:38:31Z</dcterms:created>
  <dcterms:modified xsi:type="dcterms:W3CDTF">2026-10-16T17:38:31Z</dcterms:modified>
</cp:coreProperties>
</file>